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charts/chart1.xml" ContentType="application/vnd.openxmlformats-officedocument.drawingml.chart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charts/chart2.xml" ContentType="application/vnd.openxmlformats-officedocument.drawingml.chart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200" b="0" i="0" u="none" strike="noStrike">
                <a:solidFill>
                  <a:srgbClr val="1C2D4A"/>
                </a:solidFill>
                <a:latin typeface="Calibri"/>
              </a:defRPr>
            </a:pPr>
            <a:r>
              <a:rPr sz="1200" b="0" i="0" u="none" strike="noStrike">
                <a:solidFill>
                  <a:srgbClr val="1C2D4A"/>
                </a:solidFill>
                <a:latin typeface="Calibri"/>
              </a:rPr>
              <a:t>How many were missed, out of every 100 (made-up data)</a:t>
            </a:r>
          </a:p>
        </c:rich>
      </c:tx>
      <c:layout/>
      <c:overlay val="0"/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Missed (%)</c:v>
                </c:pt>
              </c:strCache>
            </c:strRef>
          </c:tx>
          <c:spPr>
            <a:solidFill>
              <a:srgbClr val="1C8782"/>
            </a:solidFill>
            <a:effectLst/>
          </c:spPr>
          <c:invertIfNegative val="0"/>
          <c:dLbls>
            <c:numFmt formatCode="0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2D3845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Sheet1!$A$2:$A$8</c:f>
              <c:multiLvlStrCache>
                <c:ptCount val="7"/>
                <c:lvl>
                  <c:pt idx="0">
                    <c:v>No reminder</c:v>
                  </c:pt>
                  <c:pt idx="1">
                    <c:v>Reminder sent</c:v>
                  </c:pt>
                  <c:pt idx="2">
                    <c:v>No earlier misses</c:v>
                  </c:pt>
                  <c:pt idx="3">
                    <c:v>1 earlier miss</c:v>
                  </c:pt>
                  <c:pt idx="4">
                    <c:v>2+ earlier misses</c:v>
                  </c:pt>
                  <c:pt idx="5">
                    <c:v>Booked ≤7 days ahead</c:v>
                  </c:pt>
                  <c:pt idx="6">
                    <c:v>Booked ≥14 days ahead</c:v>
                  </c:pt>
                </c:lvl>
              </c:multiLvlStrCache>
            </c:multiLvlStrRef>
          </c:cat>
          <c:val>
            <c:numRef>
              <c:f>Sheet1!$B$2:$B$8</c:f>
              <c:numCache>
                <c:formatCode>General</c:formatCode>
                <c:ptCount val="7"/>
                <c:pt idx="0">
                  <c:v>54</c:v>
                </c:pt>
                <c:pt idx="1">
                  <c:v>37.9</c:v>
                </c:pt>
                <c:pt idx="2">
                  <c:v>37.2</c:v>
                </c:pt>
                <c:pt idx="3">
                  <c:v>55.6</c:v>
                </c:pt>
                <c:pt idx="4">
                  <c:v>63.9</c:v>
                </c:pt>
                <c:pt idx="5">
                  <c:v>35.2</c:v>
                </c:pt>
                <c:pt idx="6">
                  <c:v>61.3</c:v>
                </c:pt>
              </c:numCache>
            </c:numRef>
          </c:val>
        </c:ser>
        <c:dLbls>
          <c:numFmt formatCode="0" sourceLinked="0"/>
          <c:txPr>
            <a:bodyPr/>
            <a:lstStyle/>
            <a:p>
              <a:pPr>
                <a:defRPr b="0" i="0" strike="noStrike" sz="1000" u="none">
                  <a:solidFill>
                    <a:srgbClr val="2D3845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axMin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2D3845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80"/>
          <c:min val="0"/>
        </c:scaling>
        <c:delete val="1"/>
        <c:axPos val="b"/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200" b="0" i="0" u="none" strike="noStrike">
                <a:solidFill>
                  <a:srgbClr val="1C2D4A"/>
                </a:solidFill>
                <a:latin typeface="Calibri"/>
              </a:defRPr>
            </a:pPr>
            <a:r>
              <a:rPr sz="1200" b="0" i="0" u="none" strike="noStrike">
                <a:solidFill>
                  <a:srgbClr val="1C2D4A"/>
                </a:solidFill>
                <a:latin typeface="Calibri"/>
              </a:rPr>
              <a:t>Correct answers out of 100 (240 unseen test records)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Right out of 100</c:v>
                </c:pt>
              </c:strCache>
            </c:strRef>
          </c:tx>
          <c:spPr>
            <a:solidFill>
              <a:srgbClr val="1C8782"/>
            </a:solidFill>
            <a:effectLst/>
          </c:spPr>
          <c:invertIfNegative val="0"/>
          <c:dLbls>
            <c:numFmt formatCode="0.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2D3845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1C8782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5FB3AE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9AA9B8"/>
              </a:solidFill>
              <a:effectLst/>
            </c:spPr>
          </c:dPt>
          <c:dPt>
            <c:idx val="3"/>
            <c:invertIfNegative val="0"/>
            <c:bubble3D val="0"/>
            <c:spPr>
              <a:solidFill>
                <a:srgbClr val="9AA9B8"/>
              </a:solidFill>
              <a:effectLst/>
            </c:spPr>
          </c:dPt>
          <c:cat>
            <c:multiLvlStrRef>
              <c:f>Sheet1!$A$2:$A$5</c:f>
              <c:multiLvlStrCache>
                <c:ptCount val="4"/>
                <c:lvl>
                  <c:pt idx="0">
                    <c:v>Main AI</c:v>
                  </c:pt>
                  <c:pt idx="1">
                    <c:v>Second method</c:v>
                  </c:pt>
                  <c:pt idx="2">
                    <c:v>Always guess 'will come'</c:v>
                  </c:pt>
                  <c:pt idx="3">
                    <c:v>Rule: no reminder = miss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66.7</c:v>
                </c:pt>
                <c:pt idx="1">
                  <c:v>65.8</c:v>
                </c:pt>
                <c:pt idx="2">
                  <c:v>60.8</c:v>
                </c:pt>
                <c:pt idx="3">
                  <c:v>60</c:v>
                </c:pt>
              </c:numCache>
            </c:numRef>
          </c:val>
        </c:ser>
        <c:dLbls>
          <c:numFmt formatCode="0.0" sourceLinked="0"/>
          <c:txPr>
            <a:bodyPr/>
            <a:lstStyle/>
            <a:p>
              <a:pPr>
                <a:defRPr b="0" i="0" strike="noStrike" sz="1200" u="none">
                  <a:solidFill>
                    <a:srgbClr val="2D3845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2D3845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00"/>
          <c:min val="0"/>
        </c:scaling>
        <c:delete val="1"/>
        <c:axPos val="l"/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We are presenting a local Python and Streamlit prototype for appointment-risk review. It uses a retained synthetic demo and a separately selected public Brazil dataset from 2016. It is not a clinical system and contains no current clinic patient records.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Missed appointments leave clinic capacity unused, and staff cannot manually check every booking. ClinicFlow AI organizes a list for optional follow-up. The score must never determine who receives care.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app validates one selected dataset, trains models on training records, then shows held-out predictions. Staff can explore a cutoff or a top-K queue. Nothing sends reminders or changes appointments.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seven sections are Executive Dashboard; Dataset and Data-Quality Intelligence; AI Model Laboratory; Individual Prediction Explanations; AI Copilot; Decision Simulator; and Responsible AI and Evaluation. After training in-session, users can upload a matching-schema CSV and score new rows locally. The copilot is deterministic and grounded in saved results because no LLM service credential is configured. No patient-level data leaves the app.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demo file has 1,200 generated synthetic appointments and is clearly labelled simulated. The public Kaggle dataset by Joni Hoppen has 110,527 original records and is licensed CC BY-NC-SA 4.0. One invalid row was excluded, leaving 110,526. We never concatenate these sources.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For the public set, 88,420 rows train the models and 22,106 rows are held out; all appointments for a patient stay on one side. IDs and target labels are excluded from features, and preprocessing learns from training rows only. KNN and calibrated SVM use a stratified training sample capped at 25,000 on this dataset, then score the full holdout. The synthetic evaluation uses 960 training and 240 held-out records.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All ten classifiers trained on each source with no fit failures. On the public holdout, HistGradientBoosting has the highest ROC-AUC at 0.740. At a 0.50 cutoff it catches only 0.8% of no-shows. Random Forest catches 83.7% at that same cutoff, but only 30.6% of its flags are actual no-shows. This class imbalance and cutoff trade-off is why accuracy or ROC-AUC alone is not an operational recommendation.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These are retrospective counts for the public holdout's 22,106 appointments, using HistGradientBoosting because it had the highest ROC-AUC. A top-5% queue flags 1,106 records, catches 502 no-shows (11.2% recall), and 45.4% of flags were no-shows. Top-10% flags 2,211, catches 940 (21.1% recall), and has 42.5% precision. Top-20% flags 4,422, catches 1,708 (38.3% recall), and has 38.6% precision. At a 0.50 threshold it flags 58, catches 36 (0.8% recall), and has 62.1% precision. The public holdout is not a clinic day's schedule, so these counts illustrate trade-offs only.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source is historical, geographically specific, and includes sensitive attributes. Results do not establish present-day clinic performance, calibration, fairness, or impact. Group comparisons are descriptive. One-feature perturbations are not causal effects or SHAP. There is no validated operational cutoff; any use would need authorized current data, independent prospective validation, privacy and governance review, and staff and patient involvement.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Never deny, delay, or reduce access to care because of a risk score. Nothing sends messages or changes appointments. Before any pilot, clinics would need permissioned data, privacy controls, subgroup and calibration assessment, workflow review, and prospective validation with staff oversight.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rgbClr val="F4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1C8782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4828032"/>
            <a:ext cx="6400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F6C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Made-up (simulated) data · student prototype · not tested in real clinics</a:t>
            </a:r>
            <a:endParaRPr lang="en-US" sz="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828032"/>
            <a:ext cx="36576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F6C7C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b="0" lang="en-US"/>
              <a:t>1002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">
    <p:bg>
      <p:bgPr>
        <a:solidFill>
          <a:srgbClr val="1C2D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828032"/>
            <a:ext cx="36576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F6C7C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2.xml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28600" cy="5143500"/>
          </a:xfrm>
          <a:prstGeom prst="rect">
            <a:avLst/>
          </a:prstGeom>
          <a:solidFill>
            <a:srgbClr val="1C8782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731520" y="731520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7FD1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4TH INTERNATIONAL AI CHAMPIONSHIP  ·  AI IN HEALTHCARE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731520" y="1280160"/>
            <a:ext cx="7772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ClinicFlow AI</a:t>
            </a:r>
            <a:endParaRPr lang="en-US" sz="5400" dirty="0"/>
          </a:p>
        </p:txBody>
      </p:sp>
      <p:sp>
        <p:nvSpPr>
          <p:cNvPr id="5" name="Text 3"/>
          <p:cNvSpPr txBox="1"/>
          <p:nvPr/>
        </p:nvSpPr>
        <p:spPr>
          <a:xfrm>
            <a:off x="731520" y="2240280"/>
            <a:ext cx="7772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DCE6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AI-assisted appointment review for clinics</a:t>
            </a:r>
            <a:endParaRPr lang="en-US" sz="2400" dirty="0"/>
          </a:p>
        </p:txBody>
      </p:sp>
      <p:sp>
        <p:nvSpPr>
          <p:cNvPr id="6" name="Text 4"/>
          <p:cNvSpPr txBox="1"/>
          <p:nvPr/>
        </p:nvSpPr>
        <p:spPr>
          <a:xfrm>
            <a:off x="731520" y="2880360"/>
            <a:ext cx="6858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AFC0D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local Python and Streamlit prototype helps clinic staff review no-show risk, compare models, and plan follow-up capacity.</a:t>
            </a:r>
            <a:endParaRPr lang="en-US" sz="1500" dirty="0"/>
          </a:p>
        </p:txBody>
      </p:sp>
      <p:sp>
        <p:nvSpPr>
          <p:cNvPr id="7" name="Text 5"/>
          <p:cNvSpPr txBox="1"/>
          <p:nvPr/>
        </p:nvSpPr>
        <p:spPr>
          <a:xfrm>
            <a:off x="731520" y="3931920"/>
            <a:ext cx="7680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Team: Rameen · Noor Amna · Abdullah Ali Khan · Rana Ali Zain</a:t>
            </a:r>
            <a:endParaRPr lang="en-US" sz="1400" dirty="0"/>
          </a:p>
        </p:txBody>
      </p:sp>
      <p:sp>
        <p:nvSpPr>
          <p:cNvPr id="8" name="Text 6"/>
          <p:cNvSpPr txBox="1"/>
          <p:nvPr/>
        </p:nvSpPr>
        <p:spPr>
          <a:xfrm>
            <a:off x="731520" y="4343400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0C2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Synthetic demo + public 2016 Brazil data. Retrospective results only; not clinical evidence.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1C87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54864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C2D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Missed appointments leave clinic time unused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457200" y="1417320"/>
            <a:ext cx="2606040" cy="169164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5EC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57200" y="1417320"/>
            <a:ext cx="2606040" cy="64008"/>
          </a:xfrm>
          <a:prstGeom prst="rect">
            <a:avLst/>
          </a:prstGeom>
          <a:solidFill>
            <a:srgbClr val="1C8782"/>
          </a:solidFill>
          <a:ln w="12700">
            <a:solidFill>
              <a:srgbClr val="1C8782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640080" y="1627632"/>
            <a:ext cx="2240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1C2D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Unused capacity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640080" y="2194560"/>
            <a:ext cx="22402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2D38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an appointment is missed, a slot is hard to fill at short notice.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3246120" y="1417320"/>
            <a:ext cx="2606040" cy="169164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5EC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246120" y="1417320"/>
            <a:ext cx="2606040" cy="64008"/>
          </a:xfrm>
          <a:prstGeom prst="rect">
            <a:avLst/>
          </a:prstGeom>
          <a:solidFill>
            <a:srgbClr val="D28330"/>
          </a:solidFill>
          <a:ln w="12700">
            <a:solidFill>
              <a:srgbClr val="D28330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3429000" y="1627632"/>
            <a:ext cx="2240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1C2D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Staff time is limited</a:t>
            </a:r>
            <a:endParaRPr lang="en-US" sz="1600" dirty="0"/>
          </a:p>
        </p:txBody>
      </p:sp>
      <p:sp>
        <p:nvSpPr>
          <p:cNvPr id="11" name="Text 9"/>
          <p:cNvSpPr txBox="1"/>
          <p:nvPr/>
        </p:nvSpPr>
        <p:spPr>
          <a:xfrm>
            <a:off x="3429000" y="2194560"/>
            <a:ext cx="22402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2D38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Front-desk teams cannot contact every booking by hand.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6035040" y="1417320"/>
            <a:ext cx="2606040" cy="169164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5EC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035040" y="1417320"/>
            <a:ext cx="2606040" cy="64008"/>
          </a:xfrm>
          <a:prstGeom prst="rect">
            <a:avLst/>
          </a:prstGeom>
          <a:solidFill>
            <a:srgbClr val="1C8782"/>
          </a:solidFill>
          <a:ln w="12700">
            <a:solidFill>
              <a:srgbClr val="1C8782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6217920" y="1627632"/>
            <a:ext cx="2240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1C2D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 is hard to see</a:t>
            </a:r>
            <a:endParaRPr lang="en-US" sz="1600" dirty="0"/>
          </a:p>
        </p:txBody>
      </p:sp>
      <p:sp>
        <p:nvSpPr>
          <p:cNvPr id="15" name="Text 13"/>
          <p:cNvSpPr txBox="1"/>
          <p:nvPr/>
        </p:nvSpPr>
        <p:spPr>
          <a:xfrm>
            <a:off x="6217920" y="2194560"/>
            <a:ext cx="22402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2D38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long booking list makes higher-risk visits difficult to prioritize.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457200" y="3429000"/>
            <a:ext cx="8229600" cy="777240"/>
          </a:xfrm>
          <a:prstGeom prst="rect">
            <a:avLst/>
          </a:prstGeom>
          <a:solidFill>
            <a:srgbClr val="1C2D4A"/>
          </a:solidFill>
          <a:ln w="12700">
            <a:solidFill>
              <a:srgbClr val="1C2D4A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685800" y="3429000"/>
            <a:ext cx="77724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ClinicFlow AI helps organize review. It must never decide who receives care.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828032"/>
            <a:ext cx="36576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F6C7C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1C87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 IDEA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54864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C2D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Review, rank, then a person decides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457200" y="1371600"/>
            <a:ext cx="2606040" cy="233172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5EC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40080" y="1508760"/>
            <a:ext cx="1097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C87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3000" dirty="0"/>
          </a:p>
        </p:txBody>
      </p:sp>
      <p:sp>
        <p:nvSpPr>
          <p:cNvPr id="6" name="Text 4"/>
          <p:cNvSpPr txBox="1"/>
          <p:nvPr/>
        </p:nvSpPr>
        <p:spPr>
          <a:xfrm>
            <a:off x="640080" y="2057400"/>
            <a:ext cx="2240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C2D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</a:t>
            </a:r>
            <a:endParaRPr lang="en-US" sz="1900" dirty="0"/>
          </a:p>
        </p:txBody>
      </p:sp>
      <p:sp>
        <p:nvSpPr>
          <p:cNvPr id="7" name="Text 5"/>
          <p:cNvSpPr txBox="1"/>
          <p:nvPr/>
        </p:nvSpPr>
        <p:spPr>
          <a:xfrm>
            <a:off x="640080" y="2468880"/>
            <a:ext cx="224028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2D38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Import one appointment source and check for missing or invalid values.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3246120" y="1371600"/>
            <a:ext cx="2606040" cy="233172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5EC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429000" y="1508760"/>
            <a:ext cx="1097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C87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3000" dirty="0"/>
          </a:p>
        </p:txBody>
      </p:sp>
      <p:sp>
        <p:nvSpPr>
          <p:cNvPr id="10" name="Text 8"/>
          <p:cNvSpPr txBox="1"/>
          <p:nvPr/>
        </p:nvSpPr>
        <p:spPr>
          <a:xfrm>
            <a:off x="3429000" y="2057400"/>
            <a:ext cx="2240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C2D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Rank</a:t>
            </a:r>
            <a:endParaRPr lang="en-US" sz="1900" dirty="0"/>
          </a:p>
        </p:txBody>
      </p:sp>
      <p:sp>
        <p:nvSpPr>
          <p:cNvPr id="11" name="Text 9"/>
          <p:cNvSpPr txBox="1"/>
          <p:nvPr/>
        </p:nvSpPr>
        <p:spPr>
          <a:xfrm>
            <a:off x="3429000" y="2468880"/>
            <a:ext cx="224028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2D38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Compare model risks on a patient-group-disjoint held-out test set.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6035040" y="1371600"/>
            <a:ext cx="2606040" cy="233172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5EC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6217920" y="1508760"/>
            <a:ext cx="1097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C87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3000" dirty="0"/>
          </a:p>
        </p:txBody>
      </p:sp>
      <p:sp>
        <p:nvSpPr>
          <p:cNvPr id="14" name="Text 12"/>
          <p:cNvSpPr txBox="1"/>
          <p:nvPr/>
        </p:nvSpPr>
        <p:spPr>
          <a:xfrm>
            <a:off x="6217920" y="2057400"/>
            <a:ext cx="2240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C2D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</a:t>
            </a:r>
            <a:endParaRPr lang="en-US" sz="1900" dirty="0"/>
          </a:p>
        </p:txBody>
      </p:sp>
      <p:sp>
        <p:nvSpPr>
          <p:cNvPr id="15" name="Text 13"/>
          <p:cNvSpPr txBox="1"/>
          <p:nvPr/>
        </p:nvSpPr>
        <p:spPr>
          <a:xfrm>
            <a:off x="6217920" y="2468880"/>
            <a:ext cx="224028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2D38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Staff explore a threshold or top-K queue. No reminder is sent.</a:t>
            </a:r>
            <a:endParaRPr lang="en-US" sz="1300" dirty="0"/>
          </a:p>
        </p:txBody>
      </p:sp>
      <p:sp>
        <p:nvSpPr>
          <p:cNvPr id="16" name="Text 14"/>
          <p:cNvSpPr txBox="1"/>
          <p:nvPr/>
        </p:nvSpPr>
        <p:spPr>
          <a:xfrm>
            <a:off x="457200" y="397764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C87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model informs review. People make decisions.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828032"/>
            <a:ext cx="36576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F6C7C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1C87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APP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54864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C2D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seven-section Python and Streamlit app</a:t>
            </a:r>
            <a:endParaRPr lang="en-US" sz="2600" dirty="0"/>
          </a:p>
        </p:txBody>
      </p:sp>
      <p:pic>
        <p:nvPicPr>
          <p:cNvPr id="4" name="Image 0" descr="/tmp/claude-0/-home-claude/f10b221c-b5ce-5bb3-ba10-a8fa73ed9cf2/scratchpad/img/dash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234440"/>
            <a:ext cx="5029200" cy="3378994"/>
          </a:xfrm>
          <a:prstGeom prst="rect">
            <a:avLst/>
          </a:prstGeom>
          <a:effectLst>
            <a:outerShdw sx="100000" sy="100000" kx="0" ky="0" algn="bl" rotWithShape="0" blurRad="76200" dist="25400" dir="5400000">
              <a:srgbClr val="000000">
                <a:alpha val="18000"/>
              </a:srgbClr>
            </a:outerShdw>
          </a:effectLst>
        </p:spPr>
      </p:pic>
      <p:sp>
        <p:nvSpPr>
          <p:cNvPr id="5" name="Shape 2"/>
          <p:cNvSpPr/>
          <p:nvPr/>
        </p:nvSpPr>
        <p:spPr>
          <a:xfrm>
            <a:off x="5760720" y="1188720"/>
            <a:ext cx="64008" cy="566928"/>
          </a:xfrm>
          <a:prstGeom prst="rect">
            <a:avLst/>
          </a:prstGeom>
          <a:solidFill>
            <a:srgbClr val="1C8782"/>
          </a:solidFill>
          <a:ln w="12700">
            <a:solidFill>
              <a:srgbClr val="1C8782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5943600" y="1188720"/>
            <a:ext cx="2743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C2D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Seven sections</a:t>
            </a:r>
            <a:endParaRPr lang="en-US" sz="1300" dirty="0"/>
          </a:p>
        </p:txBody>
      </p:sp>
      <p:sp>
        <p:nvSpPr>
          <p:cNvPr id="7" name="Text 4"/>
          <p:cNvSpPr txBox="1"/>
          <p:nvPr/>
        </p:nvSpPr>
        <p:spPr>
          <a:xfrm>
            <a:off x="5943600" y="1426464"/>
            <a:ext cx="2788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2D38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Dashboard, data quality, models, explanations, copilot, simulator and responsible AI.</a:t>
            </a:r>
            <a:endParaRPr lang="en-US" sz="1050" dirty="0"/>
          </a:p>
        </p:txBody>
      </p:sp>
      <p:sp>
        <p:nvSpPr>
          <p:cNvPr id="8" name="Shape 5"/>
          <p:cNvSpPr/>
          <p:nvPr/>
        </p:nvSpPr>
        <p:spPr>
          <a:xfrm>
            <a:off x="5760720" y="1892808"/>
            <a:ext cx="64008" cy="566928"/>
          </a:xfrm>
          <a:prstGeom prst="rect">
            <a:avLst/>
          </a:prstGeom>
          <a:solidFill>
            <a:srgbClr val="1C8782"/>
          </a:solidFill>
          <a:ln w="12700">
            <a:solidFill>
              <a:srgbClr val="1C8782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5943600" y="1892808"/>
            <a:ext cx="2743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C2D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laboratory</a:t>
            </a:r>
            <a:endParaRPr lang="en-US" sz="1300" dirty="0"/>
          </a:p>
        </p:txBody>
      </p:sp>
      <p:sp>
        <p:nvSpPr>
          <p:cNvPr id="10" name="Text 7"/>
          <p:cNvSpPr txBox="1"/>
          <p:nvPr/>
        </p:nvSpPr>
        <p:spPr>
          <a:xfrm>
            <a:off x="5943600" y="2130552"/>
            <a:ext cx="2788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2D38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 ten classifiers and compare actual held-out metrics.</a:t>
            </a:r>
            <a:endParaRPr lang="en-US" sz="1050" dirty="0"/>
          </a:p>
        </p:txBody>
      </p:sp>
      <p:sp>
        <p:nvSpPr>
          <p:cNvPr id="11" name="Shape 8"/>
          <p:cNvSpPr/>
          <p:nvPr/>
        </p:nvSpPr>
        <p:spPr>
          <a:xfrm>
            <a:off x="5760720" y="2596896"/>
            <a:ext cx="64008" cy="566928"/>
          </a:xfrm>
          <a:prstGeom prst="rect">
            <a:avLst/>
          </a:prstGeom>
          <a:solidFill>
            <a:srgbClr val="1C8782"/>
          </a:solidFill>
          <a:ln w="12700">
            <a:solidFill>
              <a:srgbClr val="1C8782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5943600" y="2596896"/>
            <a:ext cx="2743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C2D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 explanations</a:t>
            </a:r>
            <a:endParaRPr lang="en-US" sz="1300" dirty="0"/>
          </a:p>
        </p:txBody>
      </p:sp>
      <p:sp>
        <p:nvSpPr>
          <p:cNvPr id="13" name="Text 10"/>
          <p:cNvSpPr txBox="1"/>
          <p:nvPr/>
        </p:nvSpPr>
        <p:spPr>
          <a:xfrm>
            <a:off x="5943600" y="2834640"/>
            <a:ext cx="2788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2D38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Explain held-out examples and score matched CSV rows locally.</a:t>
            </a:r>
            <a:endParaRPr lang="en-US" sz="1050" dirty="0"/>
          </a:p>
        </p:txBody>
      </p:sp>
      <p:sp>
        <p:nvSpPr>
          <p:cNvPr id="14" name="Shape 11"/>
          <p:cNvSpPr/>
          <p:nvPr/>
        </p:nvSpPr>
        <p:spPr>
          <a:xfrm>
            <a:off x="5760720" y="3300984"/>
            <a:ext cx="64008" cy="566928"/>
          </a:xfrm>
          <a:prstGeom prst="rect">
            <a:avLst/>
          </a:prstGeom>
          <a:solidFill>
            <a:srgbClr val="1C8782"/>
          </a:solidFill>
          <a:ln w="12700">
            <a:solidFill>
              <a:srgbClr val="1C8782"/>
            </a:solidFill>
            <a:prstDash val="solid"/>
          </a:ln>
        </p:spPr>
      </p:sp>
      <p:sp>
        <p:nvSpPr>
          <p:cNvPr id="15" name="Text 12"/>
          <p:cNvSpPr txBox="1"/>
          <p:nvPr/>
        </p:nvSpPr>
        <p:spPr>
          <a:xfrm>
            <a:off x="5943600" y="3300984"/>
            <a:ext cx="2743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C2D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Capacity planning</a:t>
            </a:r>
            <a:endParaRPr lang="en-US" sz="1300" dirty="0"/>
          </a:p>
        </p:txBody>
      </p:sp>
      <p:sp>
        <p:nvSpPr>
          <p:cNvPr id="16" name="Text 13"/>
          <p:cNvSpPr txBox="1"/>
          <p:nvPr/>
        </p:nvSpPr>
        <p:spPr>
          <a:xfrm>
            <a:off x="5943600" y="3538728"/>
            <a:ext cx="2788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2D38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Choose a probability threshold or a staff-sized top-K queue.</a:t>
            </a:r>
            <a:endParaRPr lang="en-US" sz="1050" dirty="0"/>
          </a:p>
        </p:txBody>
      </p:sp>
      <p:sp>
        <p:nvSpPr>
          <p:cNvPr id="17" name="Shape 14"/>
          <p:cNvSpPr/>
          <p:nvPr/>
        </p:nvSpPr>
        <p:spPr>
          <a:xfrm>
            <a:off x="5760720" y="4005072"/>
            <a:ext cx="64008" cy="566928"/>
          </a:xfrm>
          <a:prstGeom prst="rect">
            <a:avLst/>
          </a:prstGeom>
          <a:solidFill>
            <a:srgbClr val="1C8782"/>
          </a:solidFill>
          <a:ln w="12700">
            <a:solidFill>
              <a:srgbClr val="1C8782"/>
            </a:solidFill>
            <a:prstDash val="solid"/>
          </a:ln>
        </p:spPr>
      </p:sp>
      <p:sp>
        <p:nvSpPr>
          <p:cNvPr id="18" name="Text 15"/>
          <p:cNvSpPr txBox="1"/>
          <p:nvPr/>
        </p:nvSpPr>
        <p:spPr>
          <a:xfrm>
            <a:off x="5943600" y="4005072"/>
            <a:ext cx="2743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C2D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controls</a:t>
            </a:r>
            <a:endParaRPr lang="en-US" sz="1300" dirty="0"/>
          </a:p>
        </p:txBody>
      </p:sp>
      <p:sp>
        <p:nvSpPr>
          <p:cNvPr id="19" name="Text 16"/>
          <p:cNvSpPr txBox="1"/>
          <p:nvPr/>
        </p:nvSpPr>
        <p:spPr>
          <a:xfrm>
            <a:off x="5943600" y="4242816"/>
            <a:ext cx="2788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2D38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Keep sources separate, review quality, and never send reminders.</a:t>
            </a:r>
            <a:endParaRPr lang="en-US" sz="10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828032"/>
            <a:ext cx="36576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F6C7C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1C87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DATA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54864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C2D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sources, evaluated separately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457200" y="1325880"/>
            <a:ext cx="2743200" cy="315468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5EC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85800" y="1463040"/>
            <a:ext cx="2377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C87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1,200</a:t>
            </a:r>
            <a:endParaRPr lang="en-US" sz="3200" dirty="0"/>
          </a:p>
        </p:txBody>
      </p:sp>
      <p:sp>
        <p:nvSpPr>
          <p:cNvPr id="6" name="Text 4"/>
          <p:cNvSpPr txBox="1"/>
          <p:nvPr/>
        </p:nvSpPr>
        <p:spPr>
          <a:xfrm>
            <a:off x="685800" y="1965960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F6C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synthetic records</a:t>
            </a:r>
            <a:endParaRPr lang="en-US" sz="1200" dirty="0"/>
          </a:p>
        </p:txBody>
      </p:sp>
      <p:sp>
        <p:nvSpPr>
          <p:cNvPr id="7" name="Text 5"/>
          <p:cNvSpPr txBox="1"/>
          <p:nvPr/>
        </p:nvSpPr>
        <p:spPr>
          <a:xfrm>
            <a:off x="685800" y="2423160"/>
            <a:ext cx="2377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D283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110,526</a:t>
            </a:r>
            <a:endParaRPr lang="en-US" sz="3200" dirty="0"/>
          </a:p>
        </p:txBody>
      </p:sp>
      <p:sp>
        <p:nvSpPr>
          <p:cNvPr id="8" name="Text 6"/>
          <p:cNvSpPr txBox="1"/>
          <p:nvPr/>
        </p:nvSpPr>
        <p:spPr>
          <a:xfrm>
            <a:off x="685800" y="2926080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F6C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usable public rows</a:t>
            </a:r>
            <a:endParaRPr lang="en-US" sz="1200" dirty="0"/>
          </a:p>
        </p:txBody>
      </p:sp>
      <p:sp>
        <p:nvSpPr>
          <p:cNvPr id="9" name="Text 7"/>
          <p:cNvSpPr txBox="1"/>
          <p:nvPr/>
        </p:nvSpPr>
        <p:spPr>
          <a:xfrm>
            <a:off x="685800" y="3383280"/>
            <a:ext cx="2377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C87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3200" dirty="0"/>
          </a:p>
        </p:txBody>
      </p:sp>
      <p:sp>
        <p:nvSpPr>
          <p:cNvPr id="10" name="Text 8"/>
          <p:cNvSpPr txBox="1"/>
          <p:nvPr/>
        </p:nvSpPr>
        <p:spPr>
          <a:xfrm>
            <a:off x="685800" y="3886200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F6C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public model input fields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3383280" y="1325880"/>
            <a:ext cx="5303520" cy="315468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5EC"/>
            </a:solidFill>
            <a:prstDash val="solid"/>
          </a:ln>
        </p:spPr>
      </p:sp>
      <p:graphicFrame>
        <p:nvGraphicFramePr>
          <p:cNvPr id="12" name="Chart 0" descr=""/>
          <p:cNvGraphicFramePr/>
          <p:nvPr/>
        </p:nvGraphicFramePr>
        <p:xfrm>
          <a:off x="3474720" y="1371600"/>
          <a:ext cx="5120640" cy="26060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13" name="Text 10"/>
          <p:cNvSpPr txBox="1"/>
          <p:nvPr/>
        </p:nvSpPr>
        <p:spPr>
          <a:xfrm>
            <a:off x="3520440" y="4069080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i="1" dirty="0">
                <a:solidFill>
                  <a:srgbClr val="D283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Brazil 2016 · Joni Hoppen/Kaggle (CC BY-NC-SA 4.0). One invalid row excluded; source results stay separate.</a:t>
            </a:r>
            <a:endParaRPr lang="en-US" sz="10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828032"/>
            <a:ext cx="36576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F6C7C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1C87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THE EVALUATION WORKS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54864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C2D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Group-safe holdout; preprocessing fit on training data only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457200" y="1371600"/>
            <a:ext cx="1920240" cy="2286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5EC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40080" y="1554480"/>
            <a:ext cx="457200" cy="457200"/>
          </a:xfrm>
          <a:prstGeom prst="ellipse">
            <a:avLst/>
          </a:prstGeom>
          <a:solidFill>
            <a:srgbClr val="1C8782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640080" y="15544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640080" y="2148840"/>
            <a:ext cx="1645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C2D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</a:t>
            </a:r>
            <a:endParaRPr lang="en-US" sz="1700" dirty="0"/>
          </a:p>
        </p:txBody>
      </p:sp>
      <p:sp>
        <p:nvSpPr>
          <p:cNvPr id="8" name="Text 6"/>
          <p:cNvSpPr txBox="1"/>
          <p:nvPr/>
        </p:nvSpPr>
        <p:spPr>
          <a:xfrm>
            <a:off x="640080" y="2560320"/>
            <a:ext cx="16002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2D38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Fit on 88,420 public training appointments.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2542032" y="1371600"/>
            <a:ext cx="1920240" cy="2286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5EC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2724912" y="1554480"/>
            <a:ext cx="457200" cy="457200"/>
          </a:xfrm>
          <a:prstGeom prst="ellipse">
            <a:avLst/>
          </a:prstGeom>
          <a:solidFill>
            <a:srgbClr val="1C8782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2724912" y="15544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sp>
        <p:nvSpPr>
          <p:cNvPr id="12" name="Text 10"/>
          <p:cNvSpPr txBox="1"/>
          <p:nvPr/>
        </p:nvSpPr>
        <p:spPr>
          <a:xfrm>
            <a:off x="2724912" y="2148840"/>
            <a:ext cx="1645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C2D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Compare</a:t>
            </a:r>
            <a:endParaRPr lang="en-US" sz="1700" dirty="0"/>
          </a:p>
        </p:txBody>
      </p:sp>
      <p:sp>
        <p:nvSpPr>
          <p:cNvPr id="13" name="Text 11"/>
          <p:cNvSpPr txBox="1"/>
          <p:nvPr/>
        </p:nvSpPr>
        <p:spPr>
          <a:xfrm>
            <a:off x="2724912" y="2560320"/>
            <a:ext cx="16002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2D38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Fit ten classifiers; cap KNN and SVM at 25,000 training rows.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4626864" y="1371600"/>
            <a:ext cx="1920240" cy="2286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5EC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4809744" y="1554480"/>
            <a:ext cx="457200" cy="457200"/>
          </a:xfrm>
          <a:prstGeom prst="ellipse">
            <a:avLst/>
          </a:prstGeom>
          <a:solidFill>
            <a:srgbClr val="1C8782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4809744" y="15544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00" dirty="0"/>
          </a:p>
        </p:txBody>
      </p:sp>
      <p:sp>
        <p:nvSpPr>
          <p:cNvPr id="17" name="Text 15"/>
          <p:cNvSpPr txBox="1"/>
          <p:nvPr/>
        </p:nvSpPr>
        <p:spPr>
          <a:xfrm>
            <a:off x="4809744" y="2148840"/>
            <a:ext cx="1645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C2D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Hold out</a:t>
            </a:r>
            <a:endParaRPr lang="en-US" sz="1700" dirty="0"/>
          </a:p>
        </p:txBody>
      </p:sp>
      <p:sp>
        <p:nvSpPr>
          <p:cNvPr id="18" name="Text 16"/>
          <p:cNvSpPr txBox="1"/>
          <p:nvPr/>
        </p:nvSpPr>
        <p:spPr>
          <a:xfrm>
            <a:off x="4809744" y="2560320"/>
            <a:ext cx="16002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2D38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on 22,106 appointments from patients unseen in training.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6711696" y="1371600"/>
            <a:ext cx="1920240" cy="2286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5EC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6894576" y="1554480"/>
            <a:ext cx="457200" cy="457200"/>
          </a:xfrm>
          <a:prstGeom prst="ellipse">
            <a:avLst/>
          </a:prstGeom>
          <a:solidFill>
            <a:srgbClr val="D28330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6894576" y="15544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600" dirty="0"/>
          </a:p>
        </p:txBody>
      </p:sp>
      <p:sp>
        <p:nvSpPr>
          <p:cNvPr id="22" name="Text 20"/>
          <p:cNvSpPr txBox="1"/>
          <p:nvPr/>
        </p:nvSpPr>
        <p:spPr>
          <a:xfrm>
            <a:off x="6894576" y="2148840"/>
            <a:ext cx="1645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C2D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Measure</a:t>
            </a:r>
            <a:endParaRPr lang="en-US" sz="1700" dirty="0"/>
          </a:p>
        </p:txBody>
      </p:sp>
      <p:sp>
        <p:nvSpPr>
          <p:cNvPr id="23" name="Text 21"/>
          <p:cNvSpPr txBox="1"/>
          <p:nvPr/>
        </p:nvSpPr>
        <p:spPr>
          <a:xfrm>
            <a:off x="6894576" y="2560320"/>
            <a:ext cx="16002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2D38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 accuracy, precision, recall, F1 and ROC-AUC on the holdout.</a:t>
            </a:r>
            <a:endParaRPr lang="en-US" sz="1150" dirty="0"/>
          </a:p>
        </p:txBody>
      </p:sp>
      <p:sp>
        <p:nvSpPr>
          <p:cNvPr id="24" name="Text 22"/>
          <p:cNvSpPr txBox="1"/>
          <p:nvPr/>
        </p:nvSpPr>
        <p:spPr>
          <a:xfrm>
            <a:off x="457200" y="388620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2D38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Simulated split: 960 train / 240 test. IDs and labels are excluded; imputers and encoders learn from training rows only.</a:t>
            </a:r>
            <a:endParaRPr lang="en-US" sz="12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828032"/>
            <a:ext cx="36576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F6C7C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1C87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WELL DOES IT WORK?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54864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C2D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Ranking quality and the 0.50 cutoff tell different stories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457200" y="1280160"/>
            <a:ext cx="4846320" cy="320040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5EC"/>
            </a:solidFill>
            <a:prstDash val="solid"/>
          </a:ln>
        </p:spPr>
      </p:sp>
      <p:graphicFrame>
        <p:nvGraphicFramePr>
          <p:cNvPr id="5" name="Chart 0" descr=""/>
          <p:cNvGraphicFramePr/>
          <p:nvPr/>
        </p:nvGraphicFramePr>
        <p:xfrm>
          <a:off x="548640" y="1325880"/>
          <a:ext cx="4663440" cy="31089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6" name="Shape 3"/>
          <p:cNvSpPr/>
          <p:nvPr/>
        </p:nvSpPr>
        <p:spPr>
          <a:xfrm>
            <a:off x="5532120" y="1280160"/>
            <a:ext cx="3154680" cy="96012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5EC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5669280" y="1280160"/>
            <a:ext cx="13258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D283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0.740</a:t>
            </a:r>
            <a:endParaRPr lang="en-US" sz="1800" dirty="0"/>
          </a:p>
        </p:txBody>
      </p:sp>
      <p:sp>
        <p:nvSpPr>
          <p:cNvPr id="8" name="Text 5"/>
          <p:cNvSpPr txBox="1"/>
          <p:nvPr/>
        </p:nvSpPr>
        <p:spPr>
          <a:xfrm>
            <a:off x="7040880" y="1280160"/>
            <a:ext cx="15544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F6C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public holdout ROC-AUC (HistGradientBoosting).</a:t>
            </a:r>
            <a:endParaRPr lang="en-US" sz="1050" dirty="0"/>
          </a:p>
        </p:txBody>
      </p:sp>
      <p:sp>
        <p:nvSpPr>
          <p:cNvPr id="9" name="Shape 6"/>
          <p:cNvSpPr/>
          <p:nvPr/>
        </p:nvSpPr>
        <p:spPr>
          <a:xfrm>
            <a:off x="5532120" y="2377440"/>
            <a:ext cx="3154680" cy="96012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5EC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5669280" y="2377440"/>
            <a:ext cx="13258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C87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0.8 / 100</a:t>
            </a:r>
            <a:endParaRPr lang="en-US" sz="1800" dirty="0"/>
          </a:p>
        </p:txBody>
      </p:sp>
      <p:sp>
        <p:nvSpPr>
          <p:cNvPr id="11" name="Text 8"/>
          <p:cNvSpPr txBox="1"/>
          <p:nvPr/>
        </p:nvSpPr>
        <p:spPr>
          <a:xfrm>
            <a:off x="7040880" y="2377440"/>
            <a:ext cx="15544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F6C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No-shows caught by that model at its 0.50 threshold.</a:t>
            </a:r>
            <a:endParaRPr lang="en-US" sz="1050" dirty="0"/>
          </a:p>
        </p:txBody>
      </p:sp>
      <p:sp>
        <p:nvSpPr>
          <p:cNvPr id="12" name="Shape 9"/>
          <p:cNvSpPr/>
          <p:nvPr/>
        </p:nvSpPr>
        <p:spPr>
          <a:xfrm>
            <a:off x="5532120" y="3474720"/>
            <a:ext cx="3154680" cy="96012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5EC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5669280" y="3474720"/>
            <a:ext cx="13258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C87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/ 10</a:t>
            </a:r>
            <a:endParaRPr lang="en-US" sz="1800" dirty="0"/>
          </a:p>
        </p:txBody>
      </p:sp>
      <p:sp>
        <p:nvSpPr>
          <p:cNvPr id="14" name="Text 11"/>
          <p:cNvSpPr txBox="1"/>
          <p:nvPr/>
        </p:nvSpPr>
        <p:spPr>
          <a:xfrm>
            <a:off x="7040880" y="3474720"/>
            <a:ext cx="15544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F6C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Models trained. Random Forest catches 83.7%, but only 30.6% of its flags were no-shows.</a:t>
            </a:r>
            <a:endParaRPr lang="en-US" sz="1050" dirty="0"/>
          </a:p>
        </p:txBody>
      </p:sp>
      <p:sp>
        <p:nvSpPr>
          <p:cNvPr id="15" name="Text 12"/>
          <p:cNvSpPr txBox="1"/>
          <p:nvPr/>
        </p:nvSpPr>
        <p:spPr>
          <a:xfrm>
            <a:off x="457200" y="4553712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D283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Historical public records only. Threshold choice changes workload; no result validates use in a clinic.</a:t>
            </a:r>
            <a:endParaRPr lang="en-US" sz="10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828032"/>
            <a:ext cx="36576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F6C7C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1C87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CAPACITY SIMULATOR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54864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C2D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HistGradientBoosting on 22,106 held-out records</a:t>
            </a:r>
            <a:endParaRPr lang="en-US" sz="260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325880"/>
          <a:ext cx="8229600" cy="914400"/>
        </p:xfrm>
        <a:graphic>
          <a:graphicData uri="http://schemas.openxmlformats.org/drawingml/2006/table">
            <a:tbl>
              <a:tblPr/>
              <a:tblGrid>
                <a:gridCol w="1645920"/>
                <a:gridCol w="2194560"/>
                <a:gridCol w="2194560"/>
                <a:gridCol w="2194560"/>
              </a:tblGrid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Queue rule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D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2D4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Records flagged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D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2D4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No-shows caught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D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2D4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Flag precision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D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2D4A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2D38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Top 5%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D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2D38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1,106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D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1C878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502 (11.2%)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D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2D38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45%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D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2D38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Top 10%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D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2D38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2,211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D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2D38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940 (21.1%)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D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2D38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43%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D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2D38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Top 20%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D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2D38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4,422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D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2D38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1,708 (38.3%)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D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2D38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39%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D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2D38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Risk ≥50%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D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2D38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58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D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2D38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36 (0.8%)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D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1C878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62%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D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xt 2"/>
          <p:cNvSpPr txBox="1"/>
          <p:nvPr/>
        </p:nvSpPr>
        <p:spPr>
          <a:xfrm>
            <a:off x="457200" y="384048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2D38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Top-K selects the highest-risk share of the 22,106 held-out records. The 50% threshold selects only 58. All counts are retrospective, not a clinic-day workload forecast.</a:t>
            </a:r>
            <a:endParaRPr lang="en-US" sz="1350" dirty="0"/>
          </a:p>
        </p:txBody>
      </p:sp>
      <p:sp>
        <p:nvSpPr>
          <p:cNvPr id="6" name="Text 3"/>
          <p:cNvSpPr txBox="1"/>
          <p:nvPr/>
        </p:nvSpPr>
        <p:spPr>
          <a:xfrm>
            <a:off x="457200" y="44348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C87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Changing the cutoff or capacity changes the review queue; it does not retrain the model.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828032"/>
            <a:ext cx="36576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F6C7C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1C87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HONEST CHECKS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54864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C2D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the scores tell us — and what they do not</a:t>
            </a:r>
            <a:endParaRPr lang="en-US" sz="2600" dirty="0"/>
          </a:p>
        </p:txBody>
      </p:sp>
      <p:pic>
        <p:nvPicPr>
          <p:cNvPr id="4" name="Image 0" descr="/tmp/claude-0/-home-claude/f10b221c-b5ce-5bb3-ba10-a8fa73ed9cf2/scratchpad/img/eval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280160"/>
            <a:ext cx="4206240" cy="2826067"/>
          </a:xfrm>
          <a:prstGeom prst="rect">
            <a:avLst/>
          </a:prstGeom>
          <a:effectLst>
            <a:outerShdw sx="100000" sy="100000" kx="0" ky="0" algn="bl" rotWithShape="0" blurRad="76200" dist="25400" dir="5400000">
              <a:srgbClr val="000000">
                <a:alpha val="18000"/>
              </a:srgbClr>
            </a:outerShdw>
          </a:effectLst>
        </p:spPr>
      </p:pic>
      <p:sp>
        <p:nvSpPr>
          <p:cNvPr id="5" name="Text 2"/>
          <p:cNvSpPr txBox="1"/>
          <p:nvPr/>
        </p:nvSpPr>
        <p:spPr>
          <a:xfrm>
            <a:off x="4937760" y="1234440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C87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Evaluation views</a:t>
            </a:r>
            <a:endParaRPr lang="en-US" sz="1500" dirty="0"/>
          </a:p>
        </p:txBody>
      </p:sp>
      <p:sp>
        <p:nvSpPr>
          <p:cNvPr id="6" name="Text 3"/>
          <p:cNvSpPr txBox="1"/>
          <p:nvPr/>
        </p:nvSpPr>
        <p:spPr>
          <a:xfrm>
            <a:off x="4937760" y="1554480"/>
            <a:ext cx="37490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rgbClr val="2D38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Held-out ranking and classification metrics</a:t>
            </a:r>
            <a:endParaRPr lang="en-US" sz="11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rgbClr val="2D38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Threshold and top-K review workload</a:t>
            </a:r>
            <a:endParaRPr lang="en-US" sz="11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rgbClr val="2D38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 perturbations, not causal effects</a:t>
            </a:r>
            <a:endParaRPr lang="en-US" sz="11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rgbClr val="2D38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 and data-quality audit</a:t>
            </a:r>
            <a:endParaRPr lang="en-US" sz="1150" dirty="0"/>
          </a:p>
        </p:txBody>
      </p:sp>
      <p:sp>
        <p:nvSpPr>
          <p:cNvPr id="7" name="Text 4"/>
          <p:cNvSpPr txBox="1"/>
          <p:nvPr/>
        </p:nvSpPr>
        <p:spPr>
          <a:xfrm>
            <a:off x="4937760" y="2926080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D283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Limits</a:t>
            </a:r>
            <a:endParaRPr lang="en-US" sz="1500" dirty="0"/>
          </a:p>
        </p:txBody>
      </p:sp>
      <p:sp>
        <p:nvSpPr>
          <p:cNvPr id="8" name="Text 5"/>
          <p:cNvSpPr txBox="1"/>
          <p:nvPr/>
        </p:nvSpPr>
        <p:spPr>
          <a:xfrm>
            <a:off x="4937760" y="3246120"/>
            <a:ext cx="37490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rgbClr val="2D38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Brazil 2016 data is historical; it cannot validate present-day clinic performance.</a:t>
            </a:r>
            <a:endParaRPr lang="en-US" sz="11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rgbClr val="2D38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 0.50, the best-AUC model recalls only 0.8%; no safe cutoff is established.</a:t>
            </a:r>
            <a:endParaRPr lang="en-US" sz="11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rgbClr val="2D38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Group comparisons are descriptive, not a fairness certification.</a:t>
            </a:r>
            <a:endParaRPr lang="en-US" sz="11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828032"/>
            <a:ext cx="36576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F6C7C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28600" cy="5143500"/>
          </a:xfrm>
          <a:prstGeom prst="rect">
            <a:avLst/>
          </a:prstGeom>
          <a:solidFill>
            <a:srgbClr val="1C8782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731520" y="502920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7FD1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RESPONSIBLE USE AND NEXT STEPS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731520" y="822960"/>
            <a:ext cx="7772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Prototype decision support — not ready for patient-care use</a:t>
            </a:r>
            <a:endParaRPr lang="en-US" sz="3000" dirty="0"/>
          </a:p>
        </p:txBody>
      </p:sp>
      <p:sp>
        <p:nvSpPr>
          <p:cNvPr id="5" name="Text 3"/>
          <p:cNvSpPr txBox="1"/>
          <p:nvPr/>
        </p:nvSpPr>
        <p:spPr>
          <a:xfrm>
            <a:off x="731520" y="169164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7FD1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in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731520" y="2057400"/>
            <a:ext cx="374904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DCE6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Seven sections for review, comparison and workload exploration</a:t>
            </a:r>
            <a:endParaRPr lang="en-US" sz="13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DCE6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deterministic copilot grounded in saved results</a:t>
            </a:r>
            <a:endParaRPr lang="en-US" sz="13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DCE6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IDs are excluded from model features</a:t>
            </a:r>
            <a:endParaRPr lang="en-US" sz="13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DCE6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Never deny or delay care based on a score</a:t>
            </a:r>
            <a:endParaRPr lang="en-US" sz="1350" dirty="0"/>
          </a:p>
        </p:txBody>
      </p:sp>
      <p:sp>
        <p:nvSpPr>
          <p:cNvPr id="7" name="Text 5"/>
          <p:cNvSpPr txBox="1"/>
          <p:nvPr/>
        </p:nvSpPr>
        <p:spPr>
          <a:xfrm>
            <a:off x="4754880" y="169164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0C2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 steps</a:t>
            </a:r>
            <a:endParaRPr lang="en-US" sz="1600" dirty="0"/>
          </a:p>
        </p:txBody>
      </p:sp>
      <p:sp>
        <p:nvSpPr>
          <p:cNvPr id="8" name="Text 6"/>
          <p:cNvSpPr txBox="1"/>
          <p:nvPr/>
        </p:nvSpPr>
        <p:spPr>
          <a:xfrm>
            <a:off x="4754880" y="2057400"/>
            <a:ext cx="374904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DCE6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Validate with authorized, current clinic data</a:t>
            </a:r>
            <a:endParaRPr lang="en-US" sz="13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DCE6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Assess calibration, fairness and impact prospectively</a:t>
            </a:r>
            <a:endParaRPr lang="en-US" sz="13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DCE6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 review capacity with clinic staff and patients</a:t>
            </a:r>
            <a:endParaRPr lang="en-US" sz="13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DCE6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 privacy and governance before any pilot</a:t>
            </a:r>
            <a:endParaRPr lang="en-US" sz="1350" dirty="0"/>
          </a:p>
        </p:txBody>
      </p:sp>
      <p:sp>
        <p:nvSpPr>
          <p:cNvPr id="9" name="Text 7"/>
          <p:cNvSpPr txBox="1"/>
          <p:nvPr/>
        </p:nvSpPr>
        <p:spPr>
          <a:xfrm>
            <a:off x="731520" y="411480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0C2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Thank you. Questions?</a:t>
            </a:r>
            <a:endParaRPr lang="en-US" sz="2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ClinicFlow AI</dc:title>
  <dc:subject>PptxGenJS Presentation</dc:subject>
  <dc:creator>Rameen, Noor Amna</dc:creator>
  <cp:lastModifiedBy>Rameen, Noor Amna</cp:lastModifiedBy>
  <cp:revision>1</cp:revision>
  <dcterms:created xsi:type="dcterms:W3CDTF">2026-10-11T12:38:02Z</dcterms:created>
  <dcterms:modified xsi:type="dcterms:W3CDTF">2026-10-11T12:38:02Z</dcterms:modified>
</cp:coreProperties>
</file>